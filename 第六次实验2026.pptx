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4111" r:id="rId2"/>
  </p:sldMasterIdLst>
  <p:notesMasterIdLst>
    <p:notesMasterId r:id="rId16"/>
  </p:notesMasterIdLst>
  <p:handoutMasterIdLst>
    <p:handoutMasterId r:id="rId17"/>
  </p:handoutMasterIdLst>
  <p:sldIdLst>
    <p:sldId id="322" r:id="rId3"/>
    <p:sldId id="2076" r:id="rId4"/>
    <p:sldId id="2084" r:id="rId5"/>
    <p:sldId id="2078" r:id="rId6"/>
    <p:sldId id="2085" r:id="rId7"/>
    <p:sldId id="2086" r:id="rId8"/>
    <p:sldId id="2079" r:id="rId9"/>
    <p:sldId id="2080" r:id="rId10"/>
    <p:sldId id="2077" r:id="rId11"/>
    <p:sldId id="2082" r:id="rId12"/>
    <p:sldId id="2073" r:id="rId13"/>
    <p:sldId id="2081" r:id="rId14"/>
    <p:sldId id="2083" r:id="rId15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Gill Sans MT" pitchFamily="34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B40E9C7-26B6-44E2-9E63-943E684250D4}">
          <p14:sldIdLst>
            <p14:sldId id="322"/>
            <p14:sldId id="2076"/>
            <p14:sldId id="2084"/>
            <p14:sldId id="2078"/>
            <p14:sldId id="2085"/>
            <p14:sldId id="2086"/>
            <p14:sldId id="2079"/>
            <p14:sldId id="2080"/>
            <p14:sldId id="2077"/>
            <p14:sldId id="2082"/>
            <p14:sldId id="2073"/>
            <p14:sldId id="2081"/>
            <p14:sldId id="2083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xmlns="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FFCD"/>
    <a:srgbClr val="9900FF"/>
    <a:srgbClr val="CC99FF"/>
    <a:srgbClr val="FFFF99"/>
    <a:srgbClr val="FF00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85311" autoAdjust="0"/>
  </p:normalViewPr>
  <p:slideViewPr>
    <p:cSldViewPr>
      <p:cViewPr varScale="1">
        <p:scale>
          <a:sx n="97" d="100"/>
          <a:sy n="97" d="100"/>
        </p:scale>
        <p:origin x="-203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742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E0476C6-A73D-4127-9355-983E64C22B03}" type="datetimeFigureOut">
              <a:rPr lang="zh-CN" altLang="en-US"/>
              <a:pPr/>
              <a:t>2026/5/18</a:t>
            </a:fld>
            <a:endParaRPr lang="en-US" altLang="zh-CN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499ECC-0CCF-4A71-814B-16DE56F04B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8406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426FF10-905A-456B-8448-3C00A8879EA4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D789C0-5935-446E-B1F4-42F088224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9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区域 起始地址 说明 数据段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0x03E8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全局变量 代码段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0x07D0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程序指令 临时区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0x3000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临时变量 常量池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0x4000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常量数据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D789C0-5935-446E-B1F4-42F08822453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37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分为两种情况：一个是纯前缀的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（不跟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），一个是必须带配对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 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通过引入新的非终结符，强制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必须和前面的某个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配对，消除选择的自由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CD789C0-5935-446E-B1F4-42F08822453C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91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822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5807FC17-1C9E-4F8C-88D9-D8DFD9B90ACA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3AAA4EE-6B8F-411D-B87F-93A159326F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541AF8D-B3D7-4FE9-8B08-D6E788EE449C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75DC97-F21A-4696-89E7-FF9AD19932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5"/>
          <p:cNvSpPr txBox="1"/>
          <p:nvPr userDrawn="1"/>
        </p:nvSpPr>
        <p:spPr>
          <a:xfrm>
            <a:off x="6839744" y="0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Gulim" pitchFamily="34" charset="-127"/>
                <a:ea typeface="Gulim" pitchFamily="34" charset="-127"/>
                <a:cs typeface="+mn-cs"/>
              </a:defRPr>
            </a:lvl9pPr>
          </a:lstStyle>
          <a:p>
            <a:pPr algn="ctr"/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西安交通大学赵银亮</a:t>
            </a:r>
            <a:endParaRPr lang="en-US" altLang="zh-CN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  <a:p>
            <a:pPr algn="ctr"/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《</a:t>
            </a:r>
            <a:r>
              <a:rPr lang="zh-CN" altLang="en-US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形式语言与编译</a:t>
            </a:r>
            <a:r>
              <a:rPr lang="en-US" altLang="zh-CN" sz="1600" dirty="0">
                <a:solidFill>
                  <a:srgbClr val="FFCCCC"/>
                </a:solidFill>
                <a:latin typeface="汉仪悠然体简" pitchFamily="18" charset="-122"/>
                <a:ea typeface="汉仪悠然体简" pitchFamily="18" charset="-122"/>
              </a:rPr>
              <a:t>》</a:t>
            </a:r>
            <a:endParaRPr lang="zh-CN" altLang="en-US" sz="1600" dirty="0">
              <a:solidFill>
                <a:srgbClr val="FFCCCC"/>
              </a:solidFill>
              <a:latin typeface="汉仪悠然体简" pitchFamily="18" charset="-122"/>
              <a:ea typeface="汉仪悠然体简" pitchFamily="18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89009D1-2B36-4D2C-9D4F-EEB90A38386D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AC66141-66F2-4D3B-9360-5D7AD8B02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981075"/>
            <a:ext cx="4208463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981075"/>
            <a:ext cx="42084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6D98F9-3672-4225-BC10-03EFCF7A32DE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F9C476-AC91-4B5F-851C-25042C2047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E6CB3B0-AC19-4BCA-AE85-B2397647BE23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6BCCD4-78BB-4A98-A30D-917DE64AA5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223DC6B-EEF4-4C7D-A9D8-DEDB8153002C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8EBE35-3097-4DFB-84D4-CDEEA36BEF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0FC1E4C-9029-4E3A-8A14-797A659582D7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9A3ABF8-3BA0-4975-9C24-50B959923F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C3716A0-C629-44EC-8886-F1982DF0A0FB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5A54F0-219B-4885-8816-1DCB2C228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CED0AC1-BFD7-4B0A-869E-9AA162B4CDBF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40F4B0B-157D-4EFD-9B70-7D87B5033A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2AB5A83-C808-49D2-85F8-16A88CCA0D37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64A5DBD-A33A-4C1C-A1AB-EAA24CE91D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32588" y="44450"/>
            <a:ext cx="2160587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4450"/>
            <a:ext cx="6329363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3D344CE-E26C-45A2-8907-1CC7A50A90AC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6A5130-3728-4351-9C9E-1B8D7B7D05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981075"/>
            <a:ext cx="8569325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B9EBCD-1500-4B34-B597-18BC8D59A588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5868082-8011-4B9E-A200-46897186A1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52736"/>
            <a:ext cx="9144000" cy="2232025"/>
          </a:xfrm>
        </p:spPr>
        <p:txBody>
          <a:bodyPr/>
          <a:lstStyle>
            <a:lvl1pPr>
              <a:defRPr sz="4000" b="0">
                <a:solidFill>
                  <a:srgbClr val="FF0000"/>
                </a:solidFill>
                <a:latin typeface="Garamond" pitchFamily="18" charset="0"/>
                <a:ea typeface="+mj-ea"/>
              </a:defRPr>
            </a:lvl1pPr>
          </a:lstStyle>
          <a:p>
            <a:r>
              <a:rPr lang="en-US" altLang="ko-KR" dirty="0"/>
              <a:t>Click to edit Master title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21088"/>
            <a:ext cx="8686800" cy="49244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COMPANY LOGO</a:t>
            </a:r>
          </a:p>
        </p:txBody>
      </p:sp>
      <p:pic>
        <p:nvPicPr>
          <p:cNvPr id="12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585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Cambria Math" panose="02040503050406030204" pitchFamily="18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2234458"/>
          </a:xfrm>
        </p:spPr>
        <p:txBody>
          <a:bodyPr/>
          <a:lstStyle>
            <a:lvl1pPr marL="342900" indent="-342900"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1pPr>
            <a:lvl2pPr marL="742950" indent="-285750"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sz="2400" b="0"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>
              <a:buClr>
                <a:schemeClr val="accent3">
                  <a:lumMod val="75000"/>
                </a:schemeClr>
              </a:buClr>
              <a:defRPr>
                <a:latin typeface="+mn-ea"/>
                <a:ea typeface="+mn-ea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249" y="6597352"/>
            <a:ext cx="516255" cy="209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 cstate="print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" t="23318" r="10626" b="24722"/>
          <a:stretch/>
        </p:blipFill>
        <p:spPr>
          <a:xfrm>
            <a:off x="8283332" y="44624"/>
            <a:ext cx="82517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3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2346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2082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7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749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0"/>
            <a:ext cx="8713787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250825" y="981075"/>
            <a:ext cx="8642350" cy="461665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/>
            </a:lvl1pPr>
          </a:lstStyle>
          <a:p>
            <a:pPr lvl="0"/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57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16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AF5FE"/>
            </a:gs>
            <a:gs pos="50000">
              <a:srgbClr val="FFFFFF"/>
            </a:gs>
            <a:gs pos="100000">
              <a:srgbClr val="DAF5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图片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44450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81075"/>
            <a:ext cx="8569325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61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0" hangingPunct="1">
              <a:defRPr kumimoji="0" sz="1400">
                <a:solidFill>
                  <a:srgbClr val="99FFCC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547A495-6F0F-40D1-8022-D8CF4A5D3462}" type="datetime1">
              <a:rPr lang="zh-CN" altLang="en-US"/>
              <a:pPr>
                <a:defRPr/>
              </a:pPr>
              <a:t>2026/5/18</a:t>
            </a:fld>
            <a:endParaRPr lang="en-US" altLang="zh-CN"/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373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61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400">
                <a:solidFill>
                  <a:srgbClr val="0000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74C855A-3850-4EA8-9BE2-1AAA92189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6185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76200"/>
          </a:xfrm>
          <a:prstGeom prst="rect">
            <a:avLst/>
          </a:prstGeom>
          <a:gradFill rotWithShape="1">
            <a:gsLst>
              <a:gs pos="0">
                <a:srgbClr val="000068"/>
              </a:gs>
              <a:gs pos="100000">
                <a:srgbClr val="6600CC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zh-CN" altLang="en-US" sz="1800">
              <a:solidFill>
                <a:srgbClr val="000000"/>
              </a:solidFill>
              <a:latin typeface="Gulim" pitchFamily="34" charset="-127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New Century Schoolbook" pitchFamily="18" charset="0"/>
          <a:ea typeface="仿宋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10000"/>
        </a:spcAft>
        <a:buBlip>
          <a:blip r:embed="rId15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10000"/>
        </a:spcAft>
        <a:buBlip>
          <a:blip r:embed="rId16"/>
        </a:buBlip>
        <a:defRPr sz="2600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5000"/>
        </a:spcBef>
        <a:spcAft>
          <a:spcPct val="5000"/>
        </a:spcAft>
        <a:buClr>
          <a:srgbClr val="FF9900"/>
        </a:buClr>
        <a:buFont typeface="Wingdings" pitchFamily="2" charset="2"/>
        <a:buBlip>
          <a:blip r:embed="rId17"/>
        </a:buBlip>
        <a:defRPr sz="2400">
          <a:solidFill>
            <a:schemeClr val="tx1"/>
          </a:solidFill>
          <a:latin typeface="Times New Roman" pitchFamily="18" charset="0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9" descr="图片1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452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79388" y="0"/>
            <a:ext cx="8713787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>Click to edit Master text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7" name="Picture 2" descr="http://www.xjtu.edu.cn/img/logo_pic99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1824137" cy="47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3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accent1"/>
          </a:solidFill>
          <a:latin typeface="Cambria Math" panose="020405030504060302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accent1"/>
          </a:solidFill>
          <a:latin typeface="New Century Schoolbook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Tx/>
        <a:buFont typeface="Cambria Math" panose="02040503050406030204" pitchFamily="18" charset="0"/>
        <a:buChar char="▻"/>
        <a:defRPr kumimoji="1" sz="2400" b="0">
          <a:solidFill>
            <a:schemeClr val="tx1"/>
          </a:solidFill>
          <a:latin typeface="Cambria Math" panose="02040503050406030204" pitchFamily="18" charset="0"/>
          <a:ea typeface="仿宋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Font typeface="Cambria Math" panose="02040503050406030204" pitchFamily="18" charset="0"/>
        <a:buChar char="⥼"/>
        <a:defRPr kumimoji="1" sz="2400" b="0">
          <a:solidFill>
            <a:srgbClr val="000000"/>
          </a:solidFill>
          <a:latin typeface="Cambria Math" panose="02040503050406030204" pitchFamily="18" charset="0"/>
          <a:ea typeface="仿宋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b="0">
          <a:solidFill>
            <a:srgbClr val="000000"/>
          </a:solidFill>
          <a:latin typeface="Garamond" pitchFamily="18" charset="0"/>
          <a:ea typeface="Garamond" pitchFamily="18" charset="0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400">
          <a:solidFill>
            <a:srgbClr val="000000"/>
          </a:solidFill>
          <a:latin typeface="Verdana" pitchFamily="34" charset="0"/>
          <a:ea typeface="Gulim" pitchFamily="34" charset="-127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005263"/>
            <a:ext cx="8686800" cy="2160587"/>
          </a:xfrm>
        </p:spPr>
        <p:txBody>
          <a:bodyPr/>
          <a:lstStyle/>
          <a:p>
            <a:pPr eaLnBrk="1" hangingPunct="1"/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1" hangingPunct="1"/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2026.05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ambria" panose="02040503050406030204" pitchFamily="18" charset="0"/>
                <a:ea typeface="Cambria" panose="02040503050406030204" pitchFamily="18" charset="0"/>
              </a:rPr>
              <a:t>编译器设计专题实验课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2026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450449"/>
          </a:xfrm>
        </p:spPr>
        <p:txBody>
          <a:bodyPr/>
          <a:lstStyle/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58B7789-17E6-4E8F-AA6E-8E2B3EB8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F37CE693-9110-4142-80D6-58E0CD971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762000"/>
            <a:ext cx="8896350" cy="4124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CA03FF97-B9EC-4DEA-95CA-B476B520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716" y="4180568"/>
            <a:ext cx="6405755" cy="25172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828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44AE0B8-FFAD-40AB-834D-118F91894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1074"/>
            <a:ext cx="8642350" cy="461665"/>
          </a:xfrm>
        </p:spPr>
        <p:txBody>
          <a:bodyPr/>
          <a:lstStyle/>
          <a:p>
            <a:r>
              <a:rPr lang="en-US" altLang="zh-CN" dirty="0"/>
              <a:t>DFA</a:t>
            </a:r>
            <a:r>
              <a:rPr lang="zh-CN" altLang="en-US" dirty="0"/>
              <a:t>文件示例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84A73237-6075-47A4-AF6F-2670E8142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19518"/>
            <a:ext cx="3287499" cy="57878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DB03AD91-C0EF-4A53-997A-26D818CD8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75E8164-D5F7-406E-8A05-484090AE2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74" y="1332119"/>
            <a:ext cx="1209675" cy="16859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764FE952-8734-4993-AAF7-754196D5F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55" y="1905000"/>
            <a:ext cx="5892817" cy="468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3933384"/>
          </a:xfrm>
        </p:spPr>
        <p:txBody>
          <a:bodyPr/>
          <a:lstStyle/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endParaRPr lang="en-US" altLang="zh-CN" b="1" dirty="0">
              <a:latin typeface="+mn-ea"/>
            </a:endParaRPr>
          </a:p>
          <a:p>
            <a:r>
              <a:rPr lang="en-US" altLang="zh-CN" b="1" dirty="0"/>
              <a:t>DFA</a:t>
            </a:r>
            <a:r>
              <a:rPr lang="zh-CN" altLang="en-US" b="1" dirty="0"/>
              <a:t>验证步骤：</a:t>
            </a:r>
            <a:r>
              <a:rPr lang="zh-CN" altLang="en-US" dirty="0"/>
              <a:t>首先使用</a:t>
            </a:r>
            <a:r>
              <a:rPr lang="en-US" altLang="zh-CN" dirty="0"/>
              <a:t>SA26-1</a:t>
            </a:r>
            <a:r>
              <a:rPr lang="zh-CN" altLang="en-US" dirty="0"/>
              <a:t>的</a:t>
            </a:r>
            <a:r>
              <a:rPr lang="en-US" altLang="zh-CN" dirty="0"/>
              <a:t>DFA</a:t>
            </a:r>
            <a:r>
              <a:rPr lang="zh-CN" altLang="en-US" dirty="0"/>
              <a:t>验证器验证源代码是否符合预定义的语言结构</a:t>
            </a:r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58B7789-17E6-4E8F-AA6E-8E2B3EB8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2B5365BD-787F-456E-B2EA-259FB405C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9" y="681611"/>
            <a:ext cx="8942841" cy="27473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5F1B4F6C-663E-4F38-A224-D233AE62B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88" y="4382956"/>
            <a:ext cx="1247775" cy="24615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30B1A861-4076-44F5-ADB0-38A6B45F3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175" y="4489543"/>
            <a:ext cx="1152525" cy="2333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002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6166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58B7789-17E6-4E8F-AA6E-8E2B3EB8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1DD74130-FD29-4993-B96B-A9A68ED3A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875379"/>
            <a:ext cx="8872036" cy="42046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717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0165F4D-7D41-4F53-A171-0BCA3FF75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143000"/>
            <a:ext cx="8642350" cy="1876982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DFA</a:t>
            </a:r>
            <a:r>
              <a:rPr lang="zh-CN" altLang="en-US" dirty="0"/>
              <a:t>解析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B73870E4-6232-41C8-B1F6-C3B5731C0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4061263A-70C0-428A-802F-15C05722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6" y="646331"/>
            <a:ext cx="8924987" cy="18769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B4414E8-90B4-4BD5-A082-CC7FFB966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362200"/>
            <a:ext cx="5961730" cy="46958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3F7C4C81-D8B4-4FB4-B6EC-39F50A3E9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95" y="2962275"/>
            <a:ext cx="23526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3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450449"/>
          </a:xfrm>
        </p:spPr>
        <p:txBody>
          <a:bodyPr/>
          <a:lstStyle/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58B7789-17E6-4E8F-AA6E-8E2B3EB8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5CA3C40F-2D86-406E-9626-5F29CF3E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14" y="762000"/>
            <a:ext cx="8797971" cy="43062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427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450449"/>
          </a:xfrm>
        </p:spPr>
        <p:txBody>
          <a:bodyPr/>
          <a:lstStyle/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258B7789-17E6-4E8F-AA6E-8E2B3EB8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63F59663-2A84-4F38-9C25-26A584F63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801158"/>
            <a:ext cx="8353425" cy="381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E29D777D-0157-41A5-88FF-E274FF5D6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431455"/>
            <a:ext cx="2505100" cy="22468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429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E292930-44C0-4E86-A97E-DE0A8B3D2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06F81E46-92AA-4864-BC5A-F6F2B4162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7DC2B3C1-C931-4214-9DE3-1443D66C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762000"/>
            <a:ext cx="9086850" cy="4095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9D47A51-FE69-414F-8B64-7291153D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724400"/>
            <a:ext cx="2057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0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1418E80-91CE-476E-BE5A-931655F45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FBCF87D7-CDA9-4826-808E-92D3917F7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、编译流水线的分解和实现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25E674DE-A386-4344-9769-F999BF2A1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8200"/>
            <a:ext cx="4725340" cy="26477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06F46132-CEBB-4842-B102-CDD35B2D0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122" y="838200"/>
            <a:ext cx="4604328" cy="23993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4A8B793E-DC86-4542-9B70-37670906F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1345"/>
            <a:ext cx="5695950" cy="28765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618B844D-A608-4CEC-AC45-046529188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9420" y="3485972"/>
            <a:ext cx="34099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450449"/>
          </a:xfrm>
        </p:spPr>
        <p:txBody>
          <a:bodyPr/>
          <a:lstStyle/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835231E4-F127-4BF5-A8B1-AC2AE9F50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、作业相关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B4B074AC-3AAE-4A82-AEDF-18F9D0CD6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718413"/>
            <a:ext cx="8591550" cy="9429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53E91F00-77E2-41B4-99D2-DF6F7E689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7" y="1661388"/>
            <a:ext cx="4783138" cy="22964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ADB03B84-A0C5-4C97-9341-CDF769DA8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067" y="1828840"/>
            <a:ext cx="3677545" cy="20719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93376E26-1492-4124-9BBD-07B097890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30" y="4054621"/>
            <a:ext cx="4621212" cy="12712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0B9C13F9-19DE-4269-BD90-4D98A34D19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7" y="5308078"/>
            <a:ext cx="4621212" cy="93264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F9596D99-4344-49CB-9133-777E9935ED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6" y="6150338"/>
            <a:ext cx="4564833" cy="3810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66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xmlns="" id="{6E126D4F-9AF1-4226-802F-BAD90E3BD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012" y="3861681"/>
            <a:ext cx="2314122" cy="896315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A8F5350-24F3-4324-8DC1-F4D583EB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875379"/>
            <a:ext cx="8642350" cy="4450449"/>
          </a:xfrm>
        </p:spPr>
        <p:txBody>
          <a:bodyPr/>
          <a:lstStyle/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b="1" dirty="0">
                <a:latin typeface="+mn-ea"/>
              </a:rPr>
              <a:t>                   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835231E4-F127-4BF5-A8B1-AC2AE9F50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、作业相关</a:t>
            </a:r>
          </a:p>
        </p:txBody>
      </p:sp>
      <p:sp>
        <p:nvSpPr>
          <p:cNvPr id="11" name="内容占位符 3">
            <a:extLst>
              <a:ext uri="{FF2B5EF4-FFF2-40B4-BE49-F238E27FC236}">
                <a16:creationId xmlns:a16="http://schemas.microsoft.com/office/drawing/2014/main" xmlns="" id="{40C232A1-0364-45B5-BF78-035535EF25B7}"/>
              </a:ext>
            </a:extLst>
          </p:cNvPr>
          <p:cNvSpPr txBox="1">
            <a:spLocks/>
          </p:cNvSpPr>
          <p:nvPr/>
        </p:nvSpPr>
        <p:spPr bwMode="auto">
          <a:xfrm>
            <a:off x="163554" y="674098"/>
            <a:ext cx="8739916" cy="6814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Font typeface="Cambria Math" panose="02040503050406030204" pitchFamily="18" charset="0"/>
              <a:buChar char="⌲"/>
              <a:defRPr kumimoji="1" sz="2400" b="0">
                <a:solidFill>
                  <a:schemeClr val="tx1"/>
                </a:solidFill>
                <a:latin typeface="Cambria Math" panose="02040503050406030204" pitchFamily="18" charset="0"/>
                <a:ea typeface="仿宋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Font typeface="Cambria Math" panose="02040503050406030204" pitchFamily="18" charset="0"/>
              <a:buChar char="•"/>
              <a:defRPr kumimoji="1" sz="2400" b="0">
                <a:solidFill>
                  <a:srgbClr val="000000"/>
                </a:solidFill>
                <a:latin typeface="Cambria Math" panose="02040503050406030204" pitchFamily="18" charset="0"/>
                <a:ea typeface="仿宋" panose="02010609060101010101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+mn-ea"/>
                <a:ea typeface="+mn-ea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 b="0">
                <a:solidFill>
                  <a:srgbClr val="000000"/>
                </a:solidFill>
                <a:latin typeface="Garamond" pitchFamily="18" charset="0"/>
                <a:ea typeface="Garamond" pitchFamily="18" charset="0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400">
                <a:solidFill>
                  <a:srgbClr val="000000"/>
                </a:solidFill>
                <a:latin typeface="Verdana" pitchFamily="34" charset="0"/>
                <a:ea typeface="Gulim" pitchFamily="34" charset="-127"/>
              </a:defRPr>
            </a:lvl9pPr>
          </a:lstStyle>
          <a:p>
            <a:r>
              <a:rPr lang="en-US" altLang="zh-CN" b="1" kern="0" dirty="0">
                <a:latin typeface="+mn-ea"/>
              </a:rPr>
              <a:t> </a:t>
            </a:r>
            <a:r>
              <a:rPr lang="zh-CN" altLang="en-US" b="1" kern="0" dirty="0">
                <a:latin typeface="+mn-ea"/>
              </a:rPr>
              <a:t>消除文法的歧义</a:t>
            </a:r>
            <a:endParaRPr lang="en-US" altLang="zh-CN" b="1" kern="0" dirty="0">
              <a:latin typeface="+mn-ea"/>
            </a:endParaRPr>
          </a:p>
          <a:p>
            <a:pPr marL="0" indent="0">
              <a:buNone/>
            </a:pPr>
            <a:r>
              <a:rPr lang="zh-CN" altLang="en-US" b="1" kern="0" dirty="0">
                <a:latin typeface="+mn-ea"/>
              </a:rPr>
              <a:t>    歧义来源：对同一个终结符串，可以存在两种不同的推导树，原因是 </a:t>
            </a:r>
            <a:r>
              <a:rPr lang="en-US" altLang="zh-CN" b="1" kern="0" dirty="0" err="1">
                <a:latin typeface="+mn-ea"/>
              </a:rPr>
              <a:t>aS</a:t>
            </a:r>
            <a:r>
              <a:rPr lang="en-US" altLang="zh-CN" b="1" kern="0" dirty="0">
                <a:latin typeface="+mn-ea"/>
              </a:rPr>
              <a:t> </a:t>
            </a:r>
            <a:r>
              <a:rPr lang="zh-CN" altLang="en-US" b="1" kern="0" dirty="0">
                <a:latin typeface="+mn-ea"/>
              </a:rPr>
              <a:t>和 </a:t>
            </a:r>
            <a:r>
              <a:rPr lang="en-US" altLang="zh-CN" b="1" kern="0" dirty="0" err="1">
                <a:latin typeface="+mn-ea"/>
              </a:rPr>
              <a:t>aSbS</a:t>
            </a:r>
            <a:r>
              <a:rPr lang="en-US" altLang="zh-CN" b="1" kern="0" dirty="0">
                <a:latin typeface="+mn-ea"/>
              </a:rPr>
              <a:t> </a:t>
            </a:r>
            <a:r>
              <a:rPr lang="zh-CN" altLang="en-US" b="1" kern="0" dirty="0">
                <a:latin typeface="+mn-ea"/>
              </a:rPr>
              <a:t>两种产生式都可以在某个步骤中选择，并且 </a:t>
            </a:r>
            <a:r>
              <a:rPr lang="en-US" altLang="zh-CN" b="1" kern="0" dirty="0" err="1">
                <a:latin typeface="+mn-ea"/>
              </a:rPr>
              <a:t>aSbS</a:t>
            </a:r>
            <a:r>
              <a:rPr lang="en-US" altLang="zh-CN" b="1" kern="0" dirty="0">
                <a:latin typeface="+mn-ea"/>
              </a:rPr>
              <a:t> </a:t>
            </a:r>
            <a:r>
              <a:rPr lang="zh-CN" altLang="en-US" b="1" kern="0" dirty="0">
                <a:latin typeface="+mn-ea"/>
              </a:rPr>
              <a:t>中的两个 </a:t>
            </a:r>
            <a:r>
              <a:rPr lang="en-US" altLang="zh-CN" b="1" kern="0" dirty="0">
                <a:latin typeface="+mn-ea"/>
              </a:rPr>
              <a:t>S </a:t>
            </a:r>
            <a:r>
              <a:rPr lang="zh-CN" altLang="en-US" b="1" kern="0" dirty="0">
                <a:latin typeface="+mn-ea"/>
              </a:rPr>
              <a:t>如何展开可以交换顺序产生相同的字符串。</a:t>
            </a:r>
            <a:endParaRPr lang="en-US" altLang="zh-CN" b="1" kern="0" dirty="0">
              <a:latin typeface="+mn-ea"/>
            </a:endParaRPr>
          </a:p>
          <a:p>
            <a:pPr marL="0" indent="0">
              <a:buNone/>
            </a:pPr>
            <a:r>
              <a:rPr lang="zh-CN" altLang="en-US" b="1" kern="0" dirty="0">
                <a:latin typeface="+mn-ea"/>
              </a:rPr>
              <a:t>    消除歧义方法</a:t>
            </a:r>
            <a:r>
              <a:rPr lang="zh-CN" altLang="en-US" b="1" dirty="0"/>
              <a:t>强制规定分析的唯一顺序，禁止双递归在同一产生式中，或者引入优先级结合性。</a:t>
            </a:r>
            <a:endParaRPr lang="en-US" altLang="zh-CN" b="1" kern="0" dirty="0">
              <a:latin typeface="+mn-ea"/>
            </a:endParaRPr>
          </a:p>
          <a:p>
            <a:pPr marL="0" indent="0">
              <a:buNone/>
            </a:pPr>
            <a:r>
              <a:rPr lang="en-US" altLang="zh-CN" sz="1800" b="1" kern="0" dirty="0">
                <a:latin typeface="+mn-ea"/>
              </a:rPr>
              <a:t>    </a:t>
            </a:r>
            <a:r>
              <a:rPr lang="zh-CN" altLang="en-US" sz="1800" b="1" kern="0" dirty="0">
                <a:latin typeface="+mn-ea"/>
              </a:rPr>
              <a:t>强制一部分只能展开成 </a:t>
            </a:r>
            <a:r>
              <a:rPr lang="en-US" altLang="zh-CN" sz="1800" b="1" kern="0" dirty="0" err="1">
                <a:latin typeface="+mn-ea"/>
              </a:rPr>
              <a:t>aSbS</a:t>
            </a:r>
            <a:r>
              <a:rPr lang="en-US" altLang="zh-CN" sz="1800" b="1" kern="0" dirty="0">
                <a:latin typeface="+mn-ea"/>
              </a:rPr>
              <a:t> </a:t>
            </a:r>
            <a:r>
              <a:rPr lang="zh-CN" altLang="en-US" sz="1800" b="1" kern="0" dirty="0">
                <a:latin typeface="+mn-ea"/>
              </a:rPr>
              <a:t>形式，另一部分只能展开成 </a:t>
            </a:r>
            <a:r>
              <a:rPr lang="en-US" altLang="zh-CN" sz="1800" b="1" kern="0" dirty="0" err="1">
                <a:latin typeface="+mn-ea"/>
              </a:rPr>
              <a:t>aS</a:t>
            </a:r>
            <a:r>
              <a:rPr lang="zh-CN" altLang="en-US" sz="1800" b="1" kern="0" dirty="0">
                <a:latin typeface="+mn-ea"/>
              </a:rPr>
              <a:t>，</a:t>
            </a:r>
            <a:endParaRPr lang="en-US" altLang="zh-CN" sz="1800" b="1" kern="0" dirty="0">
              <a:latin typeface="+mn-ea"/>
            </a:endParaRPr>
          </a:p>
          <a:p>
            <a:endParaRPr lang="en-US" altLang="zh-CN" b="1" kern="0" dirty="0">
              <a:latin typeface="+mn-ea"/>
            </a:endParaRPr>
          </a:p>
          <a:p>
            <a:endParaRPr lang="en-US" altLang="zh-CN" b="1" kern="0" dirty="0">
              <a:latin typeface="+mn-ea"/>
            </a:endParaRPr>
          </a:p>
          <a:p>
            <a:pPr lvl="1"/>
            <a:endParaRPr lang="en-US" altLang="zh-CN" b="1" kern="0" dirty="0">
              <a:latin typeface="+mn-ea"/>
            </a:endParaRPr>
          </a:p>
          <a:p>
            <a:pPr lvl="1"/>
            <a:endParaRPr lang="en-US" altLang="zh-CN" b="1" kern="0" dirty="0">
              <a:latin typeface="+mn-ea"/>
            </a:endParaRPr>
          </a:p>
          <a:p>
            <a:pPr lvl="1"/>
            <a:endParaRPr lang="en-US" altLang="zh-CN" b="1" kern="0" dirty="0">
              <a:latin typeface="+mn-ea"/>
            </a:endParaRPr>
          </a:p>
          <a:p>
            <a:pPr lvl="1"/>
            <a:endParaRPr lang="en-US" altLang="zh-CN" b="1" kern="0" dirty="0">
              <a:latin typeface="+mn-ea"/>
            </a:endParaRPr>
          </a:p>
          <a:p>
            <a:pPr lvl="1"/>
            <a:endParaRPr lang="en-US" altLang="zh-CN" b="1" kern="0" dirty="0">
              <a:latin typeface="+mn-ea"/>
            </a:endParaRPr>
          </a:p>
          <a:p>
            <a:pPr marL="457200" lvl="1" indent="0">
              <a:buFont typeface="Cambria Math" panose="02040503050406030204" pitchFamily="18" charset="0"/>
              <a:buNone/>
            </a:pPr>
            <a:r>
              <a:rPr lang="en-US" altLang="zh-CN" b="1" kern="0" dirty="0">
                <a:latin typeface="+mn-ea"/>
              </a:rPr>
              <a:t>                    </a:t>
            </a:r>
            <a:endParaRPr lang="zh-CN" altLang="en-US" kern="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EB6389E3-44EB-4248-ABE3-02EF3F8F6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460" y="4124008"/>
            <a:ext cx="1924480" cy="5715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7BD058B2-1127-441B-A445-2C906DA48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26" y="3943608"/>
            <a:ext cx="2371725" cy="162877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AF85DD33-E12B-4B7F-8821-B9790049C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4074432"/>
            <a:ext cx="1885923" cy="6478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170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3EF70E8-C6B3-44CB-AF9B-83AC9422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A56548F-F65B-4BDA-B863-A72AA9A79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9CAF21A5-6893-4F9C-87CA-11FA21A7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三</a:t>
            </a:r>
            <a:r>
              <a:rPr lang="zh-CN" altLang="en-US" sz="3600" dirty="0">
                <a:solidFill>
                  <a:srgbClr val="000000"/>
                </a:solidFill>
                <a:latin typeface="宋体"/>
                <a:ea typeface="宋体"/>
              </a:rPr>
              <a:t>、作业相关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1D13ADB7-B3F2-408F-99A9-B1D1E148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981074"/>
            <a:ext cx="8458201" cy="77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4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78452407107759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407127979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92225378442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92225378442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92225378442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922253784424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922253784424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6357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784525891963573"/>
</p:tagLst>
</file>

<file path=ppt/theme/theme1.xml><?xml version="1.0" encoding="utf-8"?>
<a:theme xmlns:a="http://schemas.openxmlformats.org/drawingml/2006/main" name="默认设计模板">
  <a:themeElements>
    <a:clrScheme name="默认设计模板 14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8F8F8"/>
      </a:accent1>
      <a:accent2>
        <a:srgbClr val="6600CC"/>
      </a:accent2>
      <a:accent3>
        <a:srgbClr val="FFFFE9"/>
      </a:accent3>
      <a:accent4>
        <a:srgbClr val="000000"/>
      </a:accent4>
      <a:accent5>
        <a:srgbClr val="FBFBFB"/>
      </a:accent5>
      <a:accent6>
        <a:srgbClr val="5C00B9"/>
      </a:accent6>
      <a:hlink>
        <a:srgbClr val="FF5050"/>
      </a:hlink>
      <a:folHlink>
        <a:srgbClr val="FF9900"/>
      </a:folHlink>
    </a:clrScheme>
    <a:fontScheme name="默认设计模板">
      <a:majorFont>
        <a:latin typeface="New Century Schoolbook"/>
        <a:ea typeface="仿宋_GB2312"/>
        <a:cs typeface=""/>
      </a:majorFont>
      <a:minorFont>
        <a:latin typeface="New Century School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EFFEDA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6FEEA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8F8F8"/>
        </a:accent1>
        <a:accent2>
          <a:srgbClr val="6600CC"/>
        </a:accent2>
        <a:accent3>
          <a:srgbClr val="FFFFE9"/>
        </a:accent3>
        <a:accent4>
          <a:srgbClr val="000000"/>
        </a:accent4>
        <a:accent5>
          <a:srgbClr val="FBFBFB"/>
        </a:accent5>
        <a:accent6>
          <a:srgbClr val="5C00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ttymono03">
  <a:themeElements>
    <a:clrScheme name="bettymono03 5">
      <a:dk1>
        <a:srgbClr val="000000"/>
      </a:dk1>
      <a:lt1>
        <a:srgbClr val="FFFFFF"/>
      </a:lt1>
      <a:dk2>
        <a:srgbClr val="000066"/>
      </a:dk2>
      <a:lt2>
        <a:srgbClr val="CCFFFF"/>
      </a:lt2>
      <a:accent1>
        <a:srgbClr val="000068"/>
      </a:accent1>
      <a:accent2>
        <a:srgbClr val="2BD1B9"/>
      </a:accent2>
      <a:accent3>
        <a:srgbClr val="FFFFFF"/>
      </a:accent3>
      <a:accent4>
        <a:srgbClr val="000000"/>
      </a:accent4>
      <a:accent5>
        <a:srgbClr val="AAAAB9"/>
      </a:accent5>
      <a:accent6>
        <a:srgbClr val="26BDA7"/>
      </a:accent6>
      <a:hlink>
        <a:srgbClr val="87D7FF"/>
      </a:hlink>
      <a:folHlink>
        <a:srgbClr val="969696"/>
      </a:folHlink>
    </a:clrScheme>
    <a:fontScheme name="bettymono03">
      <a:majorFont>
        <a:latin typeface="New Century Schoolbook"/>
        <a:ea typeface="黑体"/>
        <a:cs typeface=""/>
      </a:majorFont>
      <a:minorFont>
        <a:latin typeface="New Century Schoolbook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>
        <a:spAutoFit/>
      </a:bodyPr>
      <a:lstStyle>
        <a:defPPr marL="342900" indent="-342900" latinLnBrk="0">
          <a:spcBef>
            <a:spcPct val="20000"/>
          </a:spcBef>
          <a:buClr>
            <a:schemeClr val="accent2"/>
          </a:buClr>
          <a:buFont typeface="Wingdings" pitchFamily="2" charset="2"/>
          <a:buChar char="Ø"/>
          <a:defRPr sz="2400" dirty="0" smtClean="0">
            <a:latin typeface="Cambria Math" panose="02040503050406030204" pitchFamily="18" charset="0"/>
            <a:ea typeface="Cambria Math" panose="020405030504060302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</a:defRPr>
        </a:defPPr>
      </a:lstStyle>
    </a:lnDef>
    <a:txDef>
      <a:spPr bwMode="auto">
        <a:noFill/>
        <a:ln w="9525" algn="ctr">
          <a:solidFill>
            <a:schemeClr val="tx1"/>
          </a:solidFill>
          <a:miter lim="800000"/>
          <a:headEnd/>
          <a:tailEnd/>
        </a:ln>
      </a:spPr>
      <a:bodyPr/>
      <a:lstStyle>
        <a:defPPr eaLnBrk="1" hangingPunct="1">
          <a:spcBef>
            <a:spcPct val="50000"/>
          </a:spcBef>
          <a:defRPr b="1">
            <a:latin typeface="Times New Roman" pitchFamily="18" charset="0"/>
          </a:defRPr>
        </a:defPPr>
      </a:lstStyle>
    </a:txDef>
  </a:objectDefaults>
  <a:extraClrSchemeLst>
    <a:extraClrScheme>
      <a:clrScheme name="bettymono03 1">
        <a:dk1>
          <a:srgbClr val="000000"/>
        </a:dk1>
        <a:lt1>
          <a:srgbClr val="FFFFFF"/>
        </a:lt1>
        <a:dk2>
          <a:srgbClr val="000000"/>
        </a:dk2>
        <a:lt2>
          <a:srgbClr val="CCFFFF"/>
        </a:lt2>
        <a:accent1>
          <a:srgbClr val="0033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8A2D"/>
        </a:accent6>
        <a:hlink>
          <a:srgbClr val="6699FF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2">
        <a:dk1>
          <a:srgbClr val="000000"/>
        </a:dk1>
        <a:lt1>
          <a:srgbClr val="FFFFFF"/>
        </a:lt1>
        <a:dk2>
          <a:srgbClr val="000000"/>
        </a:dk2>
        <a:lt2>
          <a:srgbClr val="CCCCFF"/>
        </a:lt2>
        <a:accent1>
          <a:srgbClr val="3E009A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FAACA"/>
        </a:accent5>
        <a:accent6>
          <a:srgbClr val="E78A2D"/>
        </a:accent6>
        <a:hlink>
          <a:srgbClr val="FFE161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3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4240"/>
        </a:accent1>
        <a:accent2>
          <a:srgbClr val="7FBE00"/>
        </a:accent2>
        <a:accent3>
          <a:srgbClr val="FFFFFF"/>
        </a:accent3>
        <a:accent4>
          <a:srgbClr val="000000"/>
        </a:accent4>
        <a:accent5>
          <a:srgbClr val="AAB0AF"/>
        </a:accent5>
        <a:accent6>
          <a:srgbClr val="72AC00"/>
        </a:accent6>
        <a:hlink>
          <a:srgbClr val="FFFF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4">
        <a:dk1>
          <a:srgbClr val="000000"/>
        </a:dk1>
        <a:lt1>
          <a:srgbClr val="FFFFFF"/>
        </a:lt1>
        <a:dk2>
          <a:srgbClr val="000000"/>
        </a:dk2>
        <a:lt2>
          <a:srgbClr val="CCFFCC"/>
        </a:lt2>
        <a:accent1>
          <a:srgbClr val="000000"/>
        </a:accent1>
        <a:accent2>
          <a:srgbClr val="33CC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2DB9E7"/>
        </a:accent6>
        <a:hlink>
          <a:srgbClr val="99FFCC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ttymono03 5">
        <a:dk1>
          <a:srgbClr val="000000"/>
        </a:dk1>
        <a:lt1>
          <a:srgbClr val="FFFFFF"/>
        </a:lt1>
        <a:dk2>
          <a:srgbClr val="000066"/>
        </a:dk2>
        <a:lt2>
          <a:srgbClr val="CCFFFF"/>
        </a:lt2>
        <a:accent1>
          <a:srgbClr val="000068"/>
        </a:accent1>
        <a:accent2>
          <a:srgbClr val="2BD1B9"/>
        </a:accent2>
        <a:accent3>
          <a:srgbClr val="FFFFFF"/>
        </a:accent3>
        <a:accent4>
          <a:srgbClr val="000000"/>
        </a:accent4>
        <a:accent5>
          <a:srgbClr val="AAAAB9"/>
        </a:accent5>
        <a:accent6>
          <a:srgbClr val="26BDA7"/>
        </a:accent6>
        <a:hlink>
          <a:srgbClr val="87D7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14112</TotalTime>
  <Words>273</Words>
  <Application>Microsoft Office PowerPoint</Application>
  <PresentationFormat>全屏显示(4:3)</PresentationFormat>
  <Paragraphs>94</Paragraphs>
  <Slides>13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默认设计模板</vt:lpstr>
      <vt:lpstr>bettymono03</vt:lpstr>
      <vt:lpstr>编译器设计专题实验课2026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andrejb</dc:creator>
  <cp:lastModifiedBy>微软用户</cp:lastModifiedBy>
  <cp:revision>777</cp:revision>
  <cp:lastPrinted>2011-10-10T03:21:30Z</cp:lastPrinted>
  <dcterms:created xsi:type="dcterms:W3CDTF">2010-10-06T02:55:19Z</dcterms:created>
  <dcterms:modified xsi:type="dcterms:W3CDTF">2026-05-18T07:07:42Z</dcterms:modified>
</cp:coreProperties>
</file>